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ourier Prime" panose="020B0604020202020204" charset="-18"/>
      <p:regular r:id="rId11"/>
    </p:embeddedFont>
    <p:embeddedFont>
      <p:font typeface="Courier Prime Bold" panose="020B0604020202020204" charset="-18"/>
      <p:regular r:id="rId12"/>
    </p:embeddedFont>
    <p:embeddedFont>
      <p:font typeface="Gloock" panose="020B0604020202020204" charset="-18"/>
      <p:regular r:id="rId13"/>
    </p:embeddedFont>
    <p:embeddedFont>
      <p:font typeface="Jost" panose="020B0604020202020204" charset="-18"/>
      <p:regular r:id="rId14"/>
    </p:embeddedFont>
    <p:embeddedFont>
      <p:font typeface="Jost Bold" panose="020B0604020202020204" charset="-18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9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47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Prezentace sleduje hlavní příčiny, klíčové mezníky a důsledky dekolonizace Afriky. Nejde pouze o předání moci, ale také o dědictví hranic, hospodářské závislosti a konfliktů.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 druhou světovou válkou byla většina afrického území rozdělena mezi evropské koloniální mocnosti. Hranice často vznikaly bez ohledu na místní vazby. Po válce se proto otázka politického zastoupení a sebeurčení stala naléhavější.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Dekolonizaci nelze vysvětlit jedinou příčinou. Národní hnutí sílila, evropské mocnosti ztratily část své moci a mezinárodní prostředí stále více zpochybňovalo kolonialismus.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Ghana se stala významným příkladem v roce 1957. O rok později následovala Guinea. Tyto události ukázaly, že politická samostatnost je dosažitelná, a dodaly energii dalším africkým hnutím.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Rok 1960 bývá označován jako Rok Afriky, protože nezávislost získala Nigérie a řada dalších států. Proces ale nebyl jednotný: v Nigérii šlo o vyjednávání, zatímco Alžírsko, Angola a Mosambik prošly dlouhými ozbrojenými boji. Krize v Kongu ukázala, jak obtížné bylo budovat stabilní stát pod tlakem velmocí.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Samostatnost vytvořila nové politické aktéry, ale neodstranila všechny překážky. Nové vlády řešily hranice, ekonomickou závislost, nedostatek odborníků i tlak velmocí během studené války.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závěr zdůrazněte časový odstup mezi první vlnou nezávislosti a skutečným koncem některých bojů. Zimbabwe získalo nezávislost až v roce 1980 a v Jižní Africe přišla černošská většinová vláda v roce 1994. Dekolonizace je proto proces, jehož důsledky trvají dodnes.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Zdroje použité k přípravě prezentace: heslo Encyclopaedia Britannica a článek Wikipedie o dekolonizaci Afriky.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britannica.com/event/Decolonization-of-Africa" TargetMode="External"/><Relationship Id="rId4" Type="http://schemas.openxmlformats.org/officeDocument/2006/relationships/hyperlink" Target="https://en.wikipedia.org/wiki/Decolonisation_of_Afric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510000">
            <a:off x="332848" y="1320800"/>
            <a:ext cx="2452725" cy="316805"/>
          </a:xfrm>
          <a:prstGeom prst="rect">
            <a:avLst/>
          </a:prstGeom>
          <a:solidFill>
            <a:srgbClr val="3A363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 rot="21510000">
            <a:off x="454686" y="1381720"/>
            <a:ext cx="281863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02" dirty="0">
                <a:solidFill>
                  <a:srgbClr val="DDD6C8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DĚJINY · 20. STOLETÍ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32848" y="1810241"/>
            <a:ext cx="5664058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kern="100" spc="-56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DEKOLONIZACE</a:t>
            </a:r>
            <a:endParaRPr lang="en-US" sz="5600" dirty="0">
              <a:solidFill>
                <a:srgbClr val="C8913F"/>
              </a:solidFill>
            </a:endParaRPr>
          </a:p>
          <a:p>
            <a:pPr marL="0" indent="0" algn="l">
              <a:lnSpc>
                <a:spcPct val="79000"/>
              </a:lnSpc>
              <a:buNone/>
            </a:pPr>
            <a:r>
              <a:rPr lang="en-US" sz="5600" kern="100" spc="-56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AFRIKY</a:t>
            </a:r>
            <a:endParaRPr lang="en-US" sz="5600" dirty="0">
              <a:solidFill>
                <a:srgbClr val="C8913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32848" y="3325316"/>
            <a:ext cx="1416015" cy="38100"/>
          </a:xfrm>
          <a:prstGeom prst="roundRect">
            <a:avLst>
              <a:gd name="adj" fmla="val 49999"/>
            </a:avLst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32848" y="3598366"/>
            <a:ext cx="6273643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Od koloniálního rozdělení k politické samostatnosti.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32848" y="4132362"/>
            <a:ext cx="566405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PREZENTACI PŘIPRAVILI PETR FÍLA, JIŘÍ MERTA A LUKÁŠ VOPLAKAL.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209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01 · VÝCHOZÍ SITUACE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940991"/>
            <a:ext cx="10972526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2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AFRIKA PŘED OSAMOSTATNĚNÍM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09585" y="2870200"/>
            <a:ext cx="711182" cy="38100"/>
          </a:xfrm>
          <a:prstGeom prst="roundRect">
            <a:avLst>
              <a:gd name="adj" fmla="val 49999"/>
            </a:avLst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609585" y="3143250"/>
            <a:ext cx="284472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Koloniální správa změnila politickou mapu kontinentu. Po válce se stále hlasitěji ozýval požadavek na vlastní stát a rozhodování.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83" y="2819400"/>
            <a:ext cx="609584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0400"/>
            <a:ext cx="6502237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2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PROČ DEKOLONIZACE ZAČALA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828800"/>
            <a:ext cx="711182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Tři tlaky se spojily v jeden historický zlom.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07530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940626"/>
            <a:ext cx="302252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Požadavek sebeurčení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585" y="3445371"/>
            <a:ext cx="302252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Rostlo africké nacionalistické hnutí a požadavek vlastního politického rozhodování.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298" y="2307530"/>
            <a:ext cx="380990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9298" y="2940626"/>
            <a:ext cx="302252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Oslabená Evropa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089298" y="3445371"/>
            <a:ext cx="302252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Evropské mocnosti byly po druhé světové válce finančně i politicky oslabené.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786313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5419408"/>
            <a:ext cx="650223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Mezinárodní tlak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09585" y="5924153"/>
            <a:ext cx="650223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Proti koloniálnímu systému působila podpora práva národů na vlastní vládu.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1C1A1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9"/>
          <p:cNvSpPr/>
          <p:nvPr/>
        </p:nvSpPr>
        <p:spPr>
          <a:xfrm rot="19320002">
            <a:off x="7619809" y="-50701"/>
            <a:ext cx="431690" cy="139700"/>
          </a:xfrm>
          <a:prstGeom prst="rect">
            <a:avLst/>
          </a:prstGeom>
          <a:solidFill>
            <a:srgbClr val="3A3632">
              <a:alpha val="82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0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noFill/>
          <a:ln w="38099">
            <a:solidFill>
              <a:srgbClr val="D1CCC0"/>
            </a:solidFill>
            <a:prstDash val="solid"/>
          </a:ln>
          <a:effectLst>
            <a:outerShdw blurRad="201930" dist="7493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 rot="2279998">
            <a:off x="11861503" y="-50701"/>
            <a:ext cx="431690" cy="139700"/>
          </a:xfrm>
          <a:prstGeom prst="rect">
            <a:avLst/>
          </a:prstGeom>
          <a:solidFill>
            <a:srgbClr val="3A3632">
              <a:alpha val="82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2"/>
          <p:cNvSpPr/>
          <p:nvPr/>
        </p:nvSpPr>
        <p:spPr>
          <a:xfrm>
            <a:off x="3854354" y="2307530"/>
            <a:ext cx="12700" cy="2250182"/>
          </a:xfrm>
          <a:prstGeom prst="rect">
            <a:avLst/>
          </a:prstGeom>
          <a:solidFill>
            <a:srgbClr val="57524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3"/>
          <p:cNvSpPr/>
          <p:nvPr/>
        </p:nvSpPr>
        <p:spPr>
          <a:xfrm>
            <a:off x="609585" y="4551363"/>
            <a:ext cx="6502237" cy="12700"/>
          </a:xfrm>
          <a:prstGeom prst="rect">
            <a:avLst/>
          </a:prstGeom>
          <a:solidFill>
            <a:srgbClr val="57524B"/>
          </a:solidFill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9246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PRVNÍ VLNA · 50. LÉTA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991"/>
            <a:ext cx="7315017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2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PRVNÍ VLNA NEZÁVISLOSTI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01391"/>
            <a:ext cx="7315017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 se naplno rozběhl v 50. letech 20. století. Jednotlivé příklady ukázaly, že koloniální vláda nemusí být trvalá.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2637631"/>
            <a:ext cx="7315017" cy="28575"/>
          </a:xfrm>
          <a:prstGeom prst="roundRect">
            <a:avLst>
              <a:gd name="adj" fmla="val 39999"/>
            </a:avLst>
          </a:prstGeom>
          <a:solidFill>
            <a:srgbClr val="464544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29736" y="2637631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64544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667825" y="2561431"/>
            <a:ext cx="152396" cy="152400"/>
          </a:xfrm>
          <a:prstGeom prst="ellipse">
            <a:avLst/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609585" y="3247231"/>
            <a:ext cx="2268977" cy="1734542"/>
          </a:xfrm>
          <a:prstGeom prst="roundRect">
            <a:avLst>
              <a:gd name="adj" fmla="val 659"/>
            </a:avLst>
          </a:prstGeom>
          <a:solidFill>
            <a:srgbClr val="2D2C2B"/>
          </a:solidFill>
          <a:ln w="12700">
            <a:solidFill>
              <a:srgbClr val="46454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825479" y="3463131"/>
            <a:ext cx="18371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DDD6C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1950S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5479" y="3882132"/>
            <a:ext cx="183718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Nezávislost se stává skutečným politickým cílem.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2707" y="2637631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64544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190796" y="2561431"/>
            <a:ext cx="152396" cy="152400"/>
          </a:xfrm>
          <a:prstGeom prst="ellipse">
            <a:avLst/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132555" y="3247231"/>
            <a:ext cx="2268977" cy="2029123"/>
          </a:xfrm>
          <a:prstGeom prst="roundRect">
            <a:avLst>
              <a:gd name="adj" fmla="val 563"/>
            </a:avLst>
          </a:prstGeom>
          <a:solidFill>
            <a:srgbClr val="2D2C2B"/>
          </a:solidFill>
          <a:ln w="12700">
            <a:solidFill>
              <a:srgbClr val="46454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3348450" y="3463131"/>
            <a:ext cx="18371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1957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48450" y="3882132"/>
            <a:ext cx="1837188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Ghana získává nezávislost pod vedením Kwameho Nkrumaha.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75777" y="2637631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64544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713866" y="2561431"/>
            <a:ext cx="152396" cy="152400"/>
          </a:xfrm>
          <a:prstGeom prst="ellipse">
            <a:avLst/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5655526" y="3247231"/>
            <a:ext cx="2269076" cy="2029123"/>
          </a:xfrm>
          <a:prstGeom prst="roundRect">
            <a:avLst>
              <a:gd name="adj" fmla="val 563"/>
            </a:avLst>
          </a:prstGeom>
          <a:solidFill>
            <a:srgbClr val="2D2C2B"/>
          </a:solidFill>
          <a:ln w="12700">
            <a:solidFill>
              <a:srgbClr val="46454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871420" y="3463131"/>
            <a:ext cx="183728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DDD6C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1958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71420" y="3882132"/>
            <a:ext cx="1837287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Guinea se osamostatňuje a povzbuzuje další hnutí.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19320002">
            <a:off x="9042174" y="1526084"/>
            <a:ext cx="431690" cy="139700"/>
          </a:xfrm>
          <a:prstGeom prst="rect">
            <a:avLst/>
          </a:prstGeom>
          <a:solidFill>
            <a:srgbClr val="3A3632">
              <a:alpha val="82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9143771" y="1576784"/>
            <a:ext cx="2438339" cy="3225800"/>
          </a:xfrm>
          <a:prstGeom prst="roundRect">
            <a:avLst>
              <a:gd name="adj" fmla="val 469"/>
            </a:avLst>
          </a:prstGeom>
          <a:noFill/>
          <a:ln w="38099">
            <a:solidFill>
              <a:srgbClr val="D1CCC0"/>
            </a:solidFill>
            <a:prstDash val="solid"/>
          </a:ln>
          <a:effectLst>
            <a:outerShdw blurRad="201930" dist="7493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1" y="1576784"/>
            <a:ext cx="2438339" cy="32258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 rot="2279998">
            <a:off x="11251819" y="1526083"/>
            <a:ext cx="431690" cy="139700"/>
          </a:xfrm>
          <a:prstGeom prst="rect">
            <a:avLst/>
          </a:prstGeom>
          <a:solidFill>
            <a:srgbClr val="3A3632">
              <a:alpha val="82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2"/>
          <p:cNvSpPr/>
          <p:nvPr/>
        </p:nvSpPr>
        <p:spPr>
          <a:xfrm>
            <a:off x="9143771" y="4885134"/>
            <a:ext cx="2438339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KWAME NKRUMAH · GHANA, 1957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1140023"/>
            <a:ext cx="42670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1960 · ROK AFRIKY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1471414"/>
            <a:ext cx="365750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2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ROK AFRIKY A KONFLIKTNÍ CESTA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09585" y="3198614"/>
            <a:ext cx="914377" cy="38100"/>
          </a:xfrm>
          <a:prstGeom prst="roundRect">
            <a:avLst>
              <a:gd name="adj" fmla="val 49999"/>
            </a:avLst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609585" y="3471664"/>
            <a:ext cx="3657509" cy="224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Rok </a:t>
            </a:r>
            <a:r>
              <a:rPr lang="en-US" sz="1600" dirty="0">
                <a:solidFill>
                  <a:srgbClr val="C891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1960</a:t>
            </a: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bývá vrcholem vlny nezávislosti: získala v něm nezávislost </a:t>
            </a:r>
            <a:r>
              <a:rPr lang="en-US" sz="1600" dirty="0">
                <a:solidFill>
                  <a:srgbClr val="C891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Nigérie</a:t>
            </a: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a řada dalších afrických států.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Cesta k samostatnosti ale nebyla jednotná. Některé země vyjednaly ukončení koloniální vlády, jiné si ji musely vybojovat.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263" y="877689"/>
            <a:ext cx="30479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1960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263" y="1162725"/>
            <a:ext cx="24383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Vyjednaná cesta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263" y="1667470"/>
            <a:ext cx="243833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Nigérie a řada dalších států získala nezávislost mírovým jednáním s koloniální mocí.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3771" y="730448"/>
            <a:ext cx="30479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1954–1962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3771" y="1015484"/>
            <a:ext cx="24383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Alžírská válka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43771" y="1520230"/>
            <a:ext cx="243833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Ozbrojený boj proti francouzské nadvládě ukázal, jak krvavá může být cesta k nezávislosti.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263" y="4159448"/>
            <a:ext cx="30479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1960–1965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263" y="4444484"/>
            <a:ext cx="24383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Krize v Kongu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486263" y="4949230"/>
            <a:ext cx="243833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 vzniku státu propukla vnitřní krize a do konfliktu zasáhly velmoci studené války.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3771" y="4306689"/>
            <a:ext cx="30479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1961–1975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3771" y="4591725"/>
            <a:ext cx="24383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Angola a Mosambik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3771" y="5096470"/>
            <a:ext cx="243833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Samostatnosti se dosáhlo po dlouhých ozbrojených bojích s portugalskou mocí.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527837" y="0"/>
            <a:ext cx="12700" cy="3429000"/>
          </a:xfrm>
          <a:prstGeom prst="rect">
            <a:avLst/>
          </a:prstGeom>
          <a:solidFill>
            <a:srgbClr val="57524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7"/>
          <p:cNvSpPr/>
          <p:nvPr/>
        </p:nvSpPr>
        <p:spPr>
          <a:xfrm>
            <a:off x="4876678" y="3422650"/>
            <a:ext cx="3657509" cy="12700"/>
          </a:xfrm>
          <a:prstGeom prst="rect">
            <a:avLst/>
          </a:prstGeom>
          <a:solidFill>
            <a:srgbClr val="57524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8"/>
          <p:cNvSpPr/>
          <p:nvPr/>
        </p:nvSpPr>
        <p:spPr>
          <a:xfrm>
            <a:off x="8527837" y="3429000"/>
            <a:ext cx="12700" cy="3429000"/>
          </a:xfrm>
          <a:prstGeom prst="rect">
            <a:avLst/>
          </a:prstGeom>
          <a:solidFill>
            <a:srgbClr val="57524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19"/>
          <p:cNvSpPr/>
          <p:nvPr/>
        </p:nvSpPr>
        <p:spPr>
          <a:xfrm>
            <a:off x="8534187" y="3422650"/>
            <a:ext cx="3657509" cy="12700"/>
          </a:xfrm>
          <a:prstGeom prst="rect">
            <a:avLst/>
          </a:prstGeom>
          <a:solidFill>
            <a:srgbClr val="57524B"/>
          </a:solidFill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PO SAMOSTATNOSTI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991"/>
            <a:ext cx="10972526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2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DŮSLEDKY DEKOLONIZACE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01391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Nové státy získaly mezinárodní hlas, zároveň však převzaly problémy vytvořené koloniální érou.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35386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6D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Oblast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6D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Nová možnost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6D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Přetrvávající problém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Politika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Desítky nových států a mezinárodní subjektivita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Hranice zděděné z koloniální éry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Hospodářství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Vlastní vlády a rozvojové priority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Hospodářská závislost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Společnost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Budování národních institucí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Nedostatek vzdělaných odborníků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Mezinárodní vztahy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Prostor pro vlastní diplomacii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DDD6C8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Zásahy velmocí během studené války</a:t>
                      </a:r>
                      <a:endParaRPr lang="en-US" sz="16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2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510000">
            <a:off x="1092173" y="1117600"/>
            <a:ext cx="2010915" cy="316805"/>
          </a:xfrm>
          <a:prstGeom prst="rect">
            <a:avLst/>
          </a:prstGeom>
          <a:solidFill>
            <a:srgbClr val="3A363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 rot="21510000">
            <a:off x="1214010" y="1178520"/>
            <a:ext cx="237682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02" dirty="0">
                <a:solidFill>
                  <a:srgbClr val="DDD6C8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ZÁVĚR · DĚDICTVÍ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2173" y="1590749"/>
            <a:ext cx="5791055" cy="231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kern="100" spc="-48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DEKOLONIZACE</a:t>
            </a:r>
            <a:endParaRPr lang="en-US" sz="48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4800" kern="100" spc="-48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NESKONČILA</a:t>
            </a:r>
            <a:endParaRPr lang="en-US" sz="48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4800" kern="100" spc="-48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VYHLÁŠENÍM NEZÁVISLOSTI.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2173" y="4087118"/>
            <a:ext cx="1447764" cy="38100"/>
          </a:xfrm>
          <a:prstGeom prst="roundRect">
            <a:avLst>
              <a:gd name="adj" fmla="val 49999"/>
            </a:avLst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92173" y="4360168"/>
            <a:ext cx="5791055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Většina kolonií získala nezávislost v 50. a 60. letech, ale některé boje pokračovaly až do roku 1980.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2173" y="5244009"/>
            <a:ext cx="579105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Zimbabwe získalo nezávislost v roce </a:t>
            </a:r>
            <a:r>
              <a:rPr lang="en-US" sz="1600" dirty="0">
                <a:solidFill>
                  <a:srgbClr val="C891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1980</a:t>
            </a: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; v Jižní Africe byla černošská většinová vláda dosažena až v roce </a:t>
            </a:r>
            <a:r>
              <a:rPr lang="en-US" sz="1600" dirty="0">
                <a:solidFill>
                  <a:srgbClr val="C891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1994</a:t>
            </a: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2173" y="6017320"/>
            <a:ext cx="64006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DĚDICTVÍ KOLONIALISMU OVLIVŇUJE AFRICKÉ STÁTY DODNES.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ZDROJE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991"/>
            <a:ext cx="10972526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2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ZDROJE K PREZENTACI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652191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C8913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609585" y="1925241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C8913F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Encyclopaedia Britannica — Decolonization of Africa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C8913F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 — Decolonisation of Africa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8913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683</Words>
  <Application>Microsoft Office PowerPoint</Application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Jost</vt:lpstr>
      <vt:lpstr>Courier Prime Bold</vt:lpstr>
      <vt:lpstr>Courier Prime</vt:lpstr>
      <vt:lpstr>Gloock</vt:lpstr>
      <vt:lpstr>Arial</vt:lpstr>
      <vt:lpstr>Jost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Dekolonizace Afriky</dc:title>
  <dc:subject/>
  <dc:creator>Petr Fíla, Jiří Merta, Lukáš Voplakal</dc:creator>
  <cp:lastModifiedBy>Petr Fíla</cp:lastModifiedBy>
  <cp:revision>2</cp:revision>
  <dcterms:created xsi:type="dcterms:W3CDTF">2026-10-19T19:29:12Z</dcterms:created>
  <dcterms:modified xsi:type="dcterms:W3CDTF">2026-10-19T19:31:20Z</dcterms:modified>
</cp:coreProperties>
</file>